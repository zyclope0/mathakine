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de reussite</c:v>
                </c:pt>
              </c:strCache>
            </c:strRef>
          </c:tx>
          <c:spPr>
            <a:solidFill>
              <a:srgbClr val="95A4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1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5A4C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80E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Sans support</c:v>
                  </c:pt>
                  <c:pt idx="1">
                    <c:v>Avec support adapte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E1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Valeur en MCHF</c:v>
                </c:pt>
              </c:strCache>
            </c:strRef>
          </c:tx>
          <c:spPr>
            <a:solidFill>
              <a:srgbClr val="B9C4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1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C4D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FA0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A3A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TAM</c:v>
                  </c:pt>
                  <c:pt idx="1">
                    <c:v>SAM</c:v>
                  </c:pt>
                  <c:pt idx="2">
                    <c:v>SOM (3 ans)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1280</c:v>
                </c:pt>
                <c:pt idx="1">
                  <c:v>260</c:v>
                </c:pt>
                <c:pt idx="2">
                  <c:v>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E1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(kCHF)</c:v>
                </c:pt>
              </c:strCache>
            </c:strRef>
          </c:tx>
          <c:spPr>
            <a:solidFill>
              <a:srgbClr val="2F80ED"/>
            </a:solidFill>
            <a:ln w="25400" cap="flat">
              <a:solidFill>
                <a:srgbClr val="2F80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80ED"/>
              </a:solidFill>
              <a:ln w="9525" cap="flat">
                <a:solidFill>
                  <a:srgbClr val="2F80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T2</c:v>
                  </c:pt>
                  <c:pt idx="1">
                    <c:v>T3</c:v>
                  </c:pt>
                  <c:pt idx="2">
                    <c:v>T4</c:v>
                  </c:pt>
                  <c:pt idx="3">
                    <c:v>T1-2026</c:v>
                  </c:pt>
                  <c:pt idx="4">
                    <c:v>T2</c:v>
                  </c:pt>
                  <c:pt idx="5">
                    <c:v>T3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</c:v>
                </c:pt>
                <c:pt idx="1">
                  <c:v>41</c:v>
                </c:pt>
                <c:pt idx="2">
                  <c:v>49</c:v>
                </c:pt>
                <c:pt idx="3">
                  <c:v>58</c:v>
                </c:pt>
                <c:pt idx="4">
                  <c:v>66</c:v>
                </c:pt>
                <c:pt idx="5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2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A7B6D8"/>
            </a:solidFill>
            <a:ln w="25400" cap="flat">
              <a:solidFill>
                <a:srgbClr val="A7B6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7B6D8"/>
              </a:solidFill>
              <a:ln w="9525" cap="flat">
                <a:solidFill>
                  <a:srgbClr val="A7B6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27</c:v>
                </c:pt>
                <c:pt idx="2">
                  <c:v>30</c:v>
                </c:pt>
                <c:pt idx="3">
                  <c:v>34</c:v>
                </c:pt>
                <c:pt idx="4">
                  <c:v>39</c:v>
                </c:pt>
                <c:pt idx="5">
                  <c:v>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0A3A3"/>
            </a:solidFill>
            <a:ln w="25400" cap="flat">
              <a:solidFill>
                <a:srgbClr val="00A3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3A3"/>
              </a:solidFill>
              <a:ln w="9525" cap="flat">
                <a:solidFill>
                  <a:srgbClr val="00A3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Avr</c:v>
                  </c:pt>
                  <c:pt idx="4">
                    <c:v>Mai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41</c:v>
                </c:pt>
                <c:pt idx="1">
                  <c:v>47</c:v>
                </c:pt>
                <c:pt idx="2">
                  <c:v>53</c:v>
                </c:pt>
                <c:pt idx="3">
                  <c:v>58</c:v>
                </c:pt>
                <c:pt idx="4">
                  <c:v>62</c:v>
                </c:pt>
                <c:pt idx="5">
                  <c:v>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80ED"/>
              </a:solidFill>
              <a:effectLst/>
            </c:spPr>
          </c:dPt>
          <c:dPt>
            <c:idx val="1"/>
            <c:bubble3D val="0"/>
            <c:spPr>
              <a:solidFill>
                <a:srgbClr val="00A3A3"/>
              </a:solidFill>
              <a:effectLst/>
            </c:spPr>
          </c:dPt>
          <c:dPt>
            <c:idx val="2"/>
            <c:bubble3D val="0"/>
            <c:spPr>
              <a:solidFill>
                <a:srgbClr val="D0D5D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Signe</c:v>
                </c:pt>
                <c:pt idx="1">
                  <c:v>Negociation</c:v>
                </c:pt>
                <c:pt idx="2">
                  <c:v>Qualification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</c:v>
                </c:pt>
                <c:pt idx="1">
                  <c:v>31</c:v>
                </c:pt>
                <c:pt idx="2">
                  <c:v>47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3A"/>
          </a:solidFill>
          <a:ln w="12700">
            <a:solidFill>
              <a:srgbClr val="0E1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41248"/>
            <a:ext cx="4800600" cy="4983480"/>
          </a:xfrm>
          <a:prstGeom prst="roundRect">
            <a:avLst>
              <a:gd name="adj" fmla="val 3810"/>
            </a:avLst>
          </a:prstGeom>
          <a:solidFill>
            <a:srgbClr val="163062">
              <a:alpha val="96000"/>
            </a:srgbClr>
          </a:solidFill>
          <a:ln w="12700">
            <a:solidFill>
              <a:srgbClr val="245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29844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Mathakine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105" dirty="0">
                <a:solidFill>
                  <a:srgbClr val="E4E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L’IA qui transforme les devoirs de maths en progression mesurable</a:t>
            </a:r>
            <a:endParaRPr lang="en-US" sz="2105" dirty="0"/>
          </a:p>
        </p:txBody>
      </p:sp>
      <p:sp>
        <p:nvSpPr>
          <p:cNvPr id="6" name="Text 4"/>
          <p:cNvSpPr/>
          <p:nvPr/>
        </p:nvSpPr>
        <p:spPr>
          <a:xfrm>
            <a:off x="128016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EE6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round - 1,8 MCHF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459028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D1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Fondateurs: equipe produit, IA et pedagogie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1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Confidentiel - Mars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960120"/>
            <a:ext cx="5029200" cy="4937760"/>
          </a:xfrm>
          <a:prstGeom prst="roundRect">
            <a:avLst>
              <a:gd name="adj" fmla="val 3704"/>
            </a:avLst>
          </a:prstGeom>
          <a:solidFill>
            <a:srgbClr val="0E1A3A">
              <a:alpha val="75000"/>
            </a:srgbClr>
          </a:solidFill>
          <a:ln w="12700">
            <a:solidFill>
              <a:srgbClr val="00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1353312"/>
            <a:ext cx="21488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50800" dir="2700000">
              <a:srgbClr val="ADB5BD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22008" y="1499616"/>
            <a:ext cx="1746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Eleves actifs / mois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22008" y="177393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12 400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22008" y="2450592"/>
            <a:ext cx="1746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+41% sur 6 mois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98280" y="1353312"/>
            <a:ext cx="1920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50800" dir="2700000">
              <a:srgbClr val="ADB5BD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99448" y="1499616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Ecoles partenaires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99448" y="1773936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299448" y="2450592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+18 ce trimestre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3017520"/>
            <a:ext cx="21488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50800" dir="2700000">
              <a:srgbClr val="ADB5BD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22008" y="3163824"/>
            <a:ext cx="1746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NPS enseignants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22008" y="3438144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22008" y="4114800"/>
            <a:ext cx="1746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10% edtech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98280" y="3017520"/>
            <a:ext cx="19202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50800" dir="2700000">
              <a:srgbClr val="ADB5BD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99448" y="3163824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99448" y="3438144"/>
            <a:ext cx="1517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 kCHF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99448" y="4114800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+9,2% MoM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E1A3A"/>
          </a:solidFill>
          <a:ln w="12700">
            <a:solidFill>
              <a:srgbClr val="0E1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Mathakine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 probleme: trop d’eleves decrochent en mathematiques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enseignants manquent de temps pour personnaliser les exercices et suivre les blocages en continu.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104120" y="795528"/>
            <a:ext cx="1536192" cy="384048"/>
          </a:xfrm>
          <a:prstGeom prst="roundRect">
            <a:avLst>
              <a:gd name="adj" fmla="val 19048"/>
            </a:avLst>
          </a:prstGeom>
          <a:solidFill>
            <a:srgbClr val="E8F7F7"/>
          </a:solidFill>
          <a:ln w="12700">
            <a:solidFill>
              <a:srgbClr val="BC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9568" y="90525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93392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212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Constats terrain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2596896"/>
            <a:ext cx="5074920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enseignant sur 2 </a:t>
            </a:r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 ne pas pouvoir adapter ses devoirs au niveau reel de chaque eleve.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 des eleves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difficulte n’obtiennent pas de feedback utile avant l’evaluation suivante.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E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outils numeriques actuels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sont souvent generiques, peu alignes aux progressions locales et lourds a deployer.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993392"/>
            <a:ext cx="5138928" cy="4389120"/>
          </a:xfrm>
          <a:prstGeom prst="roundRect">
            <a:avLst>
              <a:gd name="adj" fmla="val 1667"/>
            </a:avLst>
          </a:prstGeom>
          <a:solidFill>
            <a:srgbClr val="F2FAFA"/>
          </a:solidFill>
          <a:ln w="12700">
            <a:solidFill>
              <a:srgbClr val="C6EC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2212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mesurable</a:t>
            </a:r>
            <a:endParaRPr lang="en-US" sz="17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675120" y="2651760"/>
          <a:ext cx="4645152" cy="20848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693408" y="48828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Ecart moyen observe apres 12 semaines sur des cohortes college.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693408" y="528523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douleur est forte, frequente, et budgetee par les etablissements.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E1A3A"/>
          </a:solidFill>
          <a:ln w="12700">
            <a:solidFill>
              <a:srgbClr val="0E1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Mathakine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Notre solution: un copilote pedagogique IA pour les mathematiques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Mathakine adapte les parcours d’exercices, detecte les blocages et fournit des interventions actionnables aux enseignants.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104120" y="795528"/>
            <a:ext cx="1536192" cy="384048"/>
          </a:xfrm>
          <a:prstGeom prst="roundRect">
            <a:avLst>
              <a:gd name="adj" fmla="val 19048"/>
            </a:avLst>
          </a:prstGeom>
          <a:solidFill>
            <a:srgbClr val="E8F7F7"/>
          </a:solidFill>
          <a:ln w="12700">
            <a:solidFill>
              <a:srgbClr val="BC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9568" y="90525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011680"/>
            <a:ext cx="3154680" cy="4389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2258568"/>
            <a:ext cx="1170432" cy="438912"/>
          </a:xfrm>
          <a:prstGeom prst="roundRect">
            <a:avLst>
              <a:gd name="adj" fmla="val 16667"/>
            </a:avLst>
          </a:prstGeom>
          <a:solidFill>
            <a:srgbClr val="D9E7FF"/>
          </a:solidFill>
          <a:ln w="12700">
            <a:solidFill>
              <a:srgbClr val="D9E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23865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6968" y="285292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" y="3694176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 les erreurs conceptuelles en temps reel (fractions, raisonnement, algebra).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" y="5285232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Benefices: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 de temps prof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Meilleure retention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Suivi simple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9664" y="2011680"/>
            <a:ext cx="3154680" cy="4389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2258568"/>
            <a:ext cx="1170432" cy="438912"/>
          </a:xfrm>
          <a:prstGeom prst="roundRect">
            <a:avLst>
              <a:gd name="adj" fmla="val 16667"/>
            </a:avLst>
          </a:prstGeom>
          <a:solidFill>
            <a:srgbClr val="DDF7F4"/>
          </a:solidFill>
          <a:ln w="12700">
            <a:solidFill>
              <a:srgbClr val="DDF7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3865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70832" y="285292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Personnalisation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70832" y="3694176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Genere des exercices graduels et des feedbacks adaptes au profil de chaque eleve.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70832" y="5285232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Benefices: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 de temps prof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Meilleure retention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Suivi simple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53528" y="2011680"/>
            <a:ext cx="3154680" cy="4389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54696" y="2258568"/>
            <a:ext cx="1170432" cy="438912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64424" y="238658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Etape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54696" y="285292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Pilotage classe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854696" y="3694176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Affiche les risques de decrochage et propose des actions concretes avant le prochain controle.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54696" y="5285232"/>
            <a:ext cx="2697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Benefices: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 de temps prof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Meilleure retention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Suivi simple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E1A3A"/>
          </a:solidFill>
          <a:ln w="12700">
            <a:solidFill>
              <a:srgbClr val="0E1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Mathakine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73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Marche: une opportunite edtech B2B2C structurelle</a:t>
            </a:r>
            <a:endParaRPr lang="en-US" sz="2573" dirty="0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Priorite geographique: Suisse romande, France, Belgique francophone avant extension Europe.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104120" y="795528"/>
            <a:ext cx="1536192" cy="384048"/>
          </a:xfrm>
          <a:prstGeom prst="roundRect">
            <a:avLst>
              <a:gd name="adj" fmla="val 19048"/>
            </a:avLst>
          </a:prstGeom>
          <a:solidFill>
            <a:srgbClr val="E8F7F7"/>
          </a:solidFill>
          <a:ln w="12700">
            <a:solidFill>
              <a:srgbClr val="BC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9568" y="90525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011680"/>
            <a:ext cx="55321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2311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Taille de marche (estimation)</a:t>
            </a:r>
            <a:endParaRPr lang="en-US" sz="16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914400" y="2697480"/>
          <a:ext cx="50292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914400" y="495604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 cible base sur 1 500 etablissements equipes d’ici 2029.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28232" y="2011680"/>
            <a:ext cx="5084064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93408" y="22311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maintenant?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11696" y="2724912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Generalisation des equipements numeriques dans les classes secondaires.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11696" y="3438144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Pression institutionnelle sur les resultats STEM et l’equite de progression.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711696" y="4151376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Maturite des LLM pour un feedback pedagogique contextualise.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11696" y="4864608"/>
            <a:ext cx="466344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de remediations deja present dans les etablissements partenaires.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E1A3A"/>
          </a:solidFill>
          <a:ln w="12700">
            <a:solidFill>
              <a:srgbClr val="0E1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Mathakine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Modele economique: SaaS annualise et expansion par usage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contrat etablissement + upsell familles + modules premium IA pour les reseaux scolaires.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104120" y="795528"/>
            <a:ext cx="1536192" cy="384048"/>
          </a:xfrm>
          <a:prstGeom prst="roundRect">
            <a:avLst>
              <a:gd name="adj" fmla="val 19048"/>
            </a:avLst>
          </a:prstGeom>
          <a:solidFill>
            <a:srgbClr val="E8F7F7"/>
          </a:solidFill>
          <a:ln w="12700">
            <a:solidFill>
              <a:srgbClr val="BC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9568" y="90525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0972800" cy="4334256"/>
          </a:xfrm>
          <a:prstGeom prst="roundRect">
            <a:avLst>
              <a:gd name="adj" fmla="val 168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2468880"/>
          <a:ext cx="10515600" cy="210312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  <a:gridCol w="1645920"/>
                <a:gridCol w="14630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Segment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Offre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Prix annuel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Marge brute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 du CA 2026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Etablissement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Licence plateforme + analytics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 kCHF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Familles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Abonnement eleve (B2C)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 CHF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Reseaux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Module pilotage multi-sites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 kCHF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25%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68680" y="2926080"/>
            <a:ext cx="105156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8920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 payback moyen: 8,5 mois | Retention annuelle brute: 92% | NRR cible: 122%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914400" y="5230368"/>
          <a:ext cx="1024128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E1A3A"/>
          </a:solidFill>
          <a:ln w="12700">
            <a:solidFill>
              <a:srgbClr val="0E1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Mathakine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55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Traction: croissance saine et usage recurrent</a:t>
            </a:r>
            <a:endParaRPr lang="en-US" sz="2855" dirty="0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valeur est tiree par l’usage hebdomadaire, pas uniquement par la signature commerciale.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104120" y="795528"/>
            <a:ext cx="1536192" cy="384048"/>
          </a:xfrm>
          <a:prstGeom prst="roundRect">
            <a:avLst>
              <a:gd name="adj" fmla="val 19048"/>
            </a:avLst>
          </a:prstGeom>
          <a:solidFill>
            <a:srgbClr val="E8F7F7"/>
          </a:solidFill>
          <a:ln w="12700">
            <a:solidFill>
              <a:srgbClr val="BC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9568" y="90525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066544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50800" dir="2700000">
              <a:srgbClr val="ADB5BD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9536" y="2212848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Eleves actifs hebdo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487168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8 900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59536" y="301752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+63% vs an dernier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4992" y="2066544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50800" dir="2700000">
              <a:srgbClr val="ADB5BD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2212848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Exercices resolus/mois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487168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1,4 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66160" y="301752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+52% vs an dernier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2066544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50800" dir="2700000">
              <a:srgbClr val="ADB5BD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72784" y="2212848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Temps gagne prof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72784" y="2487168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3,1 h/sem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72784" y="301752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 sur 22 ecoles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78240" y="2066544"/>
            <a:ext cx="257860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sx="100000" sy="100000" kx="0" ky="0" algn="bl" rotWithShape="0" blurRad="25400" dist="50800" dir="2700000">
              <a:srgbClr val="ADB5BD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79408" y="2212848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Churn logo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79408" y="2487168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5,8%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79408" y="3017520"/>
            <a:ext cx="21762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baisse continue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3584448"/>
            <a:ext cx="5687568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Usage hebdomadaire (en milliers de sessions)</a:t>
            </a:r>
            <a:endParaRPr lang="en-US" sz="14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914400" y="4169664"/>
          <a:ext cx="5321808" cy="19019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6547104" y="3584448"/>
            <a:ext cx="4809744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84848" y="3803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commercial (12 mois)</a:t>
            </a:r>
            <a:endParaRPr lang="en-US" sz="1400" dirty="0"/>
          </a:p>
        </p:txBody>
      </p:sp>
      <p:graphicFrame>
        <p:nvGraphicFramePr>
          <p:cNvPr id="29" name="Chart 1" descr=""/>
          <p:cNvGraphicFramePr/>
          <p:nvPr/>
        </p:nvGraphicFramePr>
        <p:xfrm>
          <a:off x="6876288" y="4169664"/>
          <a:ext cx="2304288" cy="19019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Text 26"/>
          <p:cNvSpPr/>
          <p:nvPr/>
        </p:nvSpPr>
        <p:spPr>
          <a:xfrm>
            <a:off x="9308592" y="4425696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 etablissements qualifies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en phase de negociation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deja contractualises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E1A3A"/>
          </a:solidFill>
          <a:ln w="12700">
            <a:solidFill>
              <a:srgbClr val="0E1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Mathakine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28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Concurrence: positionnement differencie et defensible</a:t>
            </a:r>
            <a:endParaRPr lang="en-US" sz="2428" dirty="0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Nous gagnons sur la personnalisation pedagogique locale et l’evidence d’impact.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104120" y="795528"/>
            <a:ext cx="1536192" cy="384048"/>
          </a:xfrm>
          <a:prstGeom prst="roundRect">
            <a:avLst>
              <a:gd name="adj" fmla="val 19048"/>
            </a:avLst>
          </a:prstGeom>
          <a:solidFill>
            <a:srgbClr val="E8F7F7"/>
          </a:solidFill>
          <a:ln w="12700">
            <a:solidFill>
              <a:srgbClr val="BC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9568" y="90525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011680"/>
            <a:ext cx="10972800" cy="4352544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240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Comparatif simplifie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2651760"/>
          <a:ext cx="10515600" cy="2697480"/>
        </p:xfrm>
        <a:graphic>
          <a:graphicData uri="http://schemas.openxmlformats.org/drawingml/2006/table">
            <a:tbl>
              <a:tblPr/>
              <a:tblGrid>
                <a:gridCol w="2560320"/>
                <a:gridCol w="2651760"/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Critere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Mathakine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Plateformes LMS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 B2C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Personnalisation IA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Fine et continue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Limitee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Elevee mais hors classe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Vue enseignant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Pilotage actionnable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Reporting passif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Quasi absente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Integration etablissement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Rapide (&lt;2 semaines)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Lourde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Faible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Preuve d’impact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Mesuree par cohorte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Variable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Faible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Barriere technologique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Modele pedagogique proprietaire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Faible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44054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Moyenne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914400" y="5559552"/>
            <a:ext cx="104241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Moat principal: donnees d’apprentissage contextualisees + moteur de recommandations pedagogiques.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E1A3A"/>
          </a:solidFill>
          <a:ln w="12700">
            <a:solidFill>
              <a:srgbClr val="0E1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Mathakine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55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18 mois</a:t>
            </a:r>
            <a:endParaRPr lang="en-US" sz="2855" dirty="0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focalisee sur produit, distribution et excellence operationnelle.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104120" y="795528"/>
            <a:ext cx="1536192" cy="384048"/>
          </a:xfrm>
          <a:prstGeom prst="roundRect">
            <a:avLst>
              <a:gd name="adj" fmla="val 19048"/>
            </a:avLst>
          </a:prstGeom>
          <a:solidFill>
            <a:srgbClr val="E8F7F7"/>
          </a:solidFill>
          <a:ln w="12700">
            <a:solidFill>
              <a:srgbClr val="BC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9568" y="90525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3840480"/>
            <a:ext cx="1033272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657600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059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4884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6771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 commercial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25603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nouvelles ecoles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partenariats cantonaux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3657600"/>
            <a:ext cx="329184" cy="329184"/>
          </a:xfrm>
          <a:prstGeom prst="ellipse">
            <a:avLst/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4059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2026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63240" y="4407408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4526280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82112" y="480060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Moteur IA v2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 enseignant en direct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329184" cy="32918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4059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2027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2148840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26771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42432" y="256032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Lancement France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 distributeurs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778240" y="3657600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13648" y="4059936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2027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83880" y="4407408"/>
            <a:ext cx="153619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526280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Echelle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02752" y="480060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 etablissements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EBITDA proche breakeven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E1A3A"/>
          </a:solidFill>
          <a:ln w="12700">
            <a:solidFill>
              <a:srgbClr val="0E1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Mathakine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55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Equipe fondatrice et gouvernance</a:t>
            </a:r>
            <a:endParaRPr lang="en-US" sz="2855" dirty="0"/>
          </a:p>
        </p:txBody>
      </p:sp>
      <p:sp>
        <p:nvSpPr>
          <p:cNvPr id="5" name="Text 3"/>
          <p:cNvSpPr/>
          <p:nvPr/>
        </p:nvSpPr>
        <p:spPr>
          <a:xfrm>
            <a:off x="658368" y="1481328"/>
            <a:ext cx="8778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equipe hybride education, IA et execution commerciale SaaS.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104120" y="795528"/>
            <a:ext cx="1536192" cy="384048"/>
          </a:xfrm>
          <a:prstGeom prst="roundRect">
            <a:avLst>
              <a:gd name="adj" fmla="val 19048"/>
            </a:avLst>
          </a:prstGeom>
          <a:solidFill>
            <a:srgbClr val="E8F7F7"/>
          </a:solidFill>
          <a:ln w="12700">
            <a:solidFill>
              <a:srgbClr val="BC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59568" y="905256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Mars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2148840"/>
            <a:ext cx="2286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2768" y="2487168"/>
            <a:ext cx="749808" cy="749808"/>
          </a:xfrm>
          <a:prstGeom prst="ellipse">
            <a:avLst/>
          </a:prstGeom>
          <a:solidFill>
            <a:srgbClr val="DCE6FA"/>
          </a:solidFill>
          <a:ln w="12700">
            <a:solidFill>
              <a:srgbClr val="B5C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3429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18836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Ex-Head of Product edtech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ans dans le scale-up SaaS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06424" y="536752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ECFDF3"/>
          </a:solidFill>
          <a:ln w="12700">
            <a:solidFill>
              <a:srgbClr val="B7E7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5477256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 completee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30752" y="2148840"/>
            <a:ext cx="2286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8848" y="2487168"/>
            <a:ext cx="749808" cy="749808"/>
          </a:xfrm>
          <a:prstGeom prst="ellipse">
            <a:avLst/>
          </a:prstGeom>
          <a:solidFill>
            <a:srgbClr val="DCE6FA"/>
          </a:solidFill>
          <a:ln w="12700">
            <a:solidFill>
              <a:srgbClr val="B5C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2" y="3429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CTO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31920" y="3840480"/>
            <a:ext cx="18836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PhD IA appliquee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ex-lead ML plateforme education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32504" y="536752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ECFDF3"/>
          </a:solidFill>
          <a:ln w="12700">
            <a:solidFill>
              <a:srgbClr val="B7E7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33088" y="5477256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 completee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56832" y="2148840"/>
            <a:ext cx="2286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24928" y="2487168"/>
            <a:ext cx="749808" cy="749808"/>
          </a:xfrm>
          <a:prstGeom prst="ellipse">
            <a:avLst/>
          </a:prstGeom>
          <a:solidFill>
            <a:srgbClr val="DCE6FA"/>
          </a:solidFill>
          <a:ln w="12700">
            <a:solidFill>
              <a:srgbClr val="B5C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3429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0" y="3840480"/>
            <a:ext cx="18836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Ancienne enseignante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specialiste parcours pedagogiques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58584" y="536752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ECFDF3"/>
          </a:solidFill>
          <a:ln w="12700">
            <a:solidFill>
              <a:srgbClr val="B7E7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9168" y="5477256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 completee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582912" y="2148840"/>
            <a:ext cx="2286000" cy="39776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51008" y="2487168"/>
            <a:ext cx="749808" cy="749808"/>
          </a:xfrm>
          <a:prstGeom prst="ellipse">
            <a:avLst/>
          </a:prstGeom>
          <a:solidFill>
            <a:srgbClr val="DCE6FA"/>
          </a:solidFill>
          <a:ln w="12700">
            <a:solidFill>
              <a:srgbClr val="B5C7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11512" y="34290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Advisor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784080" y="3840480"/>
            <a:ext cx="18836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Ex-DG groupe scolaire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 aux reseaux institutionnels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884664" y="5367528"/>
            <a:ext cx="1682496" cy="384048"/>
          </a:xfrm>
          <a:prstGeom prst="roundRect">
            <a:avLst>
              <a:gd name="adj" fmla="val 19048"/>
            </a:avLst>
          </a:prstGeom>
          <a:solidFill>
            <a:srgbClr val="ECFDF3"/>
          </a:solidFill>
          <a:ln w="12700">
            <a:solidFill>
              <a:srgbClr val="B7E7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85248" y="5477256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Equipe completee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77824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Demande d’investissement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1248" y="16276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 round: 1,8 MCHF pour 18 mois d’acceleration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41248" y="2286000"/>
            <a:ext cx="6309360" cy="3566160"/>
          </a:xfrm>
          <a:prstGeom prst="roundRect">
            <a:avLst>
              <a:gd name="adj" fmla="val 2564"/>
            </a:avLst>
          </a:prstGeom>
          <a:solidFill>
            <a:srgbClr val="17315F"/>
          </a:solidFill>
          <a:ln w="12700">
            <a:solidFill>
              <a:srgbClr val="2A4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3856" y="2688336"/>
            <a:ext cx="5742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45% Produit &amp; IA (personnalisation, analytics, securite)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33856" y="3383280"/>
            <a:ext cx="5742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 Go-to-market (sales, partenariats institutionnels)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33856" y="4078224"/>
            <a:ext cx="5742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 Operations &amp; support ecoles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33856" y="4773168"/>
            <a:ext cx="57424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Reserve strategique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79792" y="228600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11284F"/>
          </a:solidFill>
          <a:ln w="12700">
            <a:solidFill>
              <a:srgbClr val="2A4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2560320"/>
            <a:ext cx="3346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fin 2027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26680" y="2999232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250 etablissements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5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40 000 eleves actifs/mois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5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 &gt; 4,5 MCHF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5E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Chemin clair vers la rentabilite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26680" y="4873752"/>
            <a:ext cx="2651760" cy="512064"/>
          </a:xfrm>
          <a:prstGeom prst="roundRect">
            <a:avLst>
              <a:gd name="adj" fmla="val 14286"/>
            </a:avLst>
          </a:prstGeom>
          <a:solidFill>
            <a:srgbClr val="00A3A3"/>
          </a:solidFill>
          <a:ln w="12700">
            <a:solidFill>
              <a:srgbClr val="00A3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36408" y="5038344"/>
            <a:ext cx="2414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A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Contact: founders@mathakine.com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Mathakine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Mathakine - Deck investisseurs</dc:title>
  <dc:subject>Presentation investisseurs</dc:subject>
  <dc:creator>Equipe Mathakine</dc:creator>
  <cp:lastModifiedBy>Equipe Mathakine</cp:lastModifiedBy>
  <cp:revision>1</cp:revision>
  <dcterms:created xsi:type="dcterms:W3CDTF">2026-03-07T21:48:25Z</dcterms:created>
  <dcterms:modified xsi:type="dcterms:W3CDTF">2026-03-07T21:48:25Z</dcterms:modified>
</cp:coreProperties>
</file>